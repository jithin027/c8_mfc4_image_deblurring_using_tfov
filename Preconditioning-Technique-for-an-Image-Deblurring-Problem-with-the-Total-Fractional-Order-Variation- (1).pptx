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4630400" cy="8229600"/>
  <p:notesSz cx="8229600" cy="14630400"/>
  <p:embeddedFontLst>
    <p:embeddedFont>
      <p:font typeface="Inter"/>
      <p:regular r:id="rId38"/>
    </p:embeddedFont>
    <p:embeddedFont>
      <p:font typeface="Inter"/>
      <p:regular r:id="rId39"/>
    </p:embeddedFont>
    <p:embeddedFont>
      <p:font typeface="Inter"/>
      <p:regular r:id="rId40"/>
    </p:embeddedFont>
    <p:embeddedFont>
      <p:font typeface="Inter"/>
      <p:regular r:id="rId41"/>
    </p:embeddedFont>
    <p:embeddedFont>
      <p:font typeface="Inter"/>
      <p:regular r:id="rId42"/>
    </p:embeddedFont>
    <p:embeddedFont>
      <p:font typeface="Inter"/>
      <p:regular r:id="rId43"/>
    </p:embeddedFont>
    <p:embeddedFont>
      <p:font typeface="Inter"/>
      <p:regular r:id="rId44"/>
    </p:embeddedFont>
    <p:embeddedFont>
      <p:font typeface="Inter"/>
      <p:regular r:id="rId4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font" Target="fonts/font1.fntdata"/><Relationship Id="rId39" Type="http://schemas.openxmlformats.org/officeDocument/2006/relationships/font" Target="fonts/font2.fntdata"/><Relationship Id="rId40" Type="http://schemas.openxmlformats.org/officeDocument/2006/relationships/font" Target="fonts/font3.fntdata"/><Relationship Id="rId41" Type="http://schemas.openxmlformats.org/officeDocument/2006/relationships/font" Target="fonts/font4.fntdata"/><Relationship Id="rId42" Type="http://schemas.openxmlformats.org/officeDocument/2006/relationships/font" Target="fonts/font5.fntdata"/><Relationship Id="rId43" Type="http://schemas.openxmlformats.org/officeDocument/2006/relationships/font" Target="fonts/font6.fntdata"/><Relationship Id="rId44" Type="http://schemas.openxmlformats.org/officeDocument/2006/relationships/font" Target="fonts/font7.fntdata"/><Relationship Id="rId4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8-1.png"/><Relationship Id="rId3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9-1.png"/><Relationship Id="rId3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0-1.png"/><Relationship Id="rId3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1-1.png"/><Relationship Id="rId3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2-1.png"/><Relationship Id="rId3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3-1.png"/><Relationship Id="rId3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4-1.png"/><Relationship Id="rId3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5-1.png"/><Relationship Id="rId3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6-1.png"/><Relationship Id="rId3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7-1.png"/><Relationship Id="rId3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8-1.png"/><Relationship Id="rId3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9-1.png"/><Relationship Id="rId3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30-1.png"/><Relationship Id="rId3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31-1.png"/><Relationship Id="rId3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3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CB.SC" TargetMode="External"/><Relationship Id="rId3" Type="http://schemas.openxmlformats.org/officeDocument/2006/relationships/hyperlink" Target="http://CB.SC" TargetMode="External"/><Relationship Id="rId4" Type="http://schemas.openxmlformats.org/officeDocument/2006/relationships/hyperlink" Target="http://CB.SC" TargetMode="External"/><Relationship Id="rId5" Type="http://schemas.openxmlformats.org/officeDocument/2006/relationships/hyperlink" Target="http://CB.SC" TargetMode="External"/><Relationship Id="rId1" Type="http://schemas.openxmlformats.org/officeDocument/2006/relationships/image" Target="../media/image-1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8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29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30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3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567452"/>
            <a:ext cx="7120057" cy="889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5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MFC4</a:t>
            </a:r>
            <a:endParaRPr lang="en-US" sz="5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233" y="1739027"/>
            <a:ext cx="11157466" cy="21927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2233" y="4143018"/>
            <a:ext cx="1318593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2233" y="4669393"/>
            <a:ext cx="13185934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           22MAT230-Mathematics for Computing 4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Preconditioning Technique for an Image Deblurring Problem with the Total Fractional-Order Variation Model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2233" y="5510927"/>
            <a:ext cx="1318593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CB.SC.U4AIE24243 PRAVEEN REDDY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2233" y="6037302"/>
            <a:ext cx="1318593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CB.SC.</a:t>
            </a:r>
            <a:pPr algn="l" indent="0" marL="0">
              <a:lnSpc>
                <a:spcPts val="2450"/>
              </a:lnSpc>
              <a:buNone/>
            </a:pPr>
            <a:r>
              <a:rPr lang="en-US" sz="16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U4AIE24241 POLICE.ARYAN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2233" y="6563678"/>
            <a:ext cx="1318593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CB.SC.U4AIE24230 JITHIN REDDY 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2233" y="7090053"/>
            <a:ext cx="1318593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CB.SC.U4AIE24215 DEEPIKA REDDY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167" y="601980"/>
            <a:ext cx="4378404" cy="54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6167" y="1466017"/>
            <a:ext cx="13098066" cy="118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deblurring is an ill-posed inverse problem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Classical methods amplify noise and blur edges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Regularization is required for stable reconstruction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6167" y="2884170"/>
            <a:ext cx="13098066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Variation (TV)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6167" y="3466028"/>
            <a:ext cx="13098066" cy="118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 preserves edges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introduces staircase artifacts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intensity regions become piecewise constant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6167" y="4884182"/>
            <a:ext cx="13098066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TFOV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6167" y="5466040"/>
            <a:ext cx="13098066" cy="201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Fractional derivatives are nonlocal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balance between: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preservation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transitions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staircase effect significantly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5744" y="1430536"/>
            <a:ext cx="5031343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1-D Signal Example for the Project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95744" y="1839039"/>
            <a:ext cx="15287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Original Signal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95744" y="2128957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a simple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1-dimensional signal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95744" y="2353628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u=[2,4,6,4,2]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95744" y="2578298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represents the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signal (true data)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95744" y="2827615"/>
            <a:ext cx="15287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Blurring Process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95744" y="3117533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signal is captured, it becomes blurred due to a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blurring operator K.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95744" y="3342203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blur kernel: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95744" y="3566874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K=1/3[1,1,1]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95744" y="3791545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convolution gives the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blurred signal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95744" y="4016216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z=Ku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95744" y="4240887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95744" y="4465558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z=[2,4,4.67,4,2]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95744" y="4690229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blurred signal is the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data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95744" y="4939546"/>
            <a:ext cx="169914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Mathematical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95744" y="5229463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blurring model is written 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95744" y="5454134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z=Ku+ϵ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95744" y="5678805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95744" y="5903476"/>
            <a:ext cx="8438912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u→ original signal</a:t>
            </a:r>
            <a:endParaRPr lang="en-US" sz="95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K→ blur operator</a:t>
            </a:r>
            <a:endParaRPr lang="en-US" sz="95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→ observed blurred signal</a:t>
            </a:r>
            <a:endParaRPr lang="en-US" sz="95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ϵ → noise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95744" y="6648569"/>
            <a:ext cx="8438912" cy="15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</a:t>
            </a:r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u from z.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3148" y="701873"/>
            <a:ext cx="2516981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Discretized Linear System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323148" y="1112401"/>
            <a:ext cx="9984105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discretization, the model becomes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23148" y="1405771"/>
            <a:ext cx="9984105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Ax=b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23148" y="1699141"/>
            <a:ext cx="9984105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23148" y="1992511"/>
            <a:ext cx="9984105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matrix form: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23148" y="2285881"/>
            <a:ext cx="9984105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2280" y="2579251"/>
            <a:ext cx="2905839" cy="49484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10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Iterative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6590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matrix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can be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and ill-conditioned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we use iterative methods: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77076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Point Iteration (FPI)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handles nonlinear terms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PCG (Preconditioned Conjugate Gradient)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inner iterations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FGMRES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outer iterative solver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79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methods gradually update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until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reconstructed signal is close to the original signal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97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Recovered signal (approximate)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015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u≈[2,4,6,4,2]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911" y="538282"/>
            <a:ext cx="8863965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Deblurring Problem Formulation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08911" y="1441133"/>
            <a:ext cx="1301246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model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11" y="2070021"/>
            <a:ext cx="5869662" cy="1237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83291" y="2034778"/>
            <a:ext cx="65455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11" y="3660219"/>
            <a:ext cx="7590592" cy="40309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598170"/>
            <a:ext cx="6301740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Ill-posed Inverse Problem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1589961"/>
            <a:ext cx="7937659" cy="5533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350" y="7325558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598170"/>
            <a:ext cx="6456640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Regularization Framework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1589961"/>
            <a:ext cx="7284482" cy="5533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350" y="7325558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598170"/>
            <a:ext cx="5993368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Tikhonov Regularization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1589961"/>
            <a:ext cx="7210782" cy="5533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350" y="7325558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610" y="545544"/>
            <a:ext cx="6278642" cy="615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Variation (TV) Model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10" y="1610439"/>
            <a:ext cx="8405813" cy="53940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0268" y="1571863"/>
            <a:ext cx="4188023" cy="294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89610" y="7389495"/>
            <a:ext cx="13251180" cy="294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81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Modified TV Model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60521"/>
            <a:ext cx="10193060" cy="4252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7685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598170"/>
            <a:ext cx="5053012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Fractional Calculus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1589961"/>
            <a:ext cx="7396162" cy="5533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350" y="7325558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4977"/>
            <a:ext cx="108487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Fractional-Order Total Variation (TFOV)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27384"/>
            <a:ext cx="9115544" cy="491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1017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9236"/>
            <a:ext cx="70844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TFOV Optimization Model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71643"/>
            <a:ext cx="10972800" cy="34306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3574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598170"/>
            <a:ext cx="7898725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Fractional Derivative Definitions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1589961"/>
            <a:ext cx="8499158" cy="5533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350" y="7325558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598170"/>
            <a:ext cx="6106597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Euler-Lagrange Equation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1589961"/>
            <a:ext cx="8071009" cy="5533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350" y="7325558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8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Nonlinear System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98226"/>
            <a:ext cx="8917067" cy="4777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0308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598170"/>
            <a:ext cx="6528197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Computational Challenges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1589961"/>
            <a:ext cx="8076724" cy="5533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350" y="7325558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358" y="618887"/>
            <a:ext cx="5517356" cy="68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GMRES Method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358" y="1737955"/>
            <a:ext cx="9517499" cy="52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2358" y="7262217"/>
            <a:ext cx="13085683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5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Preconditioning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39910"/>
            <a:ext cx="8364260" cy="4494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8890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598170"/>
            <a:ext cx="7792879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 Triangular Preconditioner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1589961"/>
            <a:ext cx="9273421" cy="5533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350" y="7325558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598289"/>
            <a:ext cx="5053012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Eigenvalue Analysis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1590080"/>
            <a:ext cx="8155305" cy="5532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7350" y="7325558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7973"/>
            <a:ext cx="57559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Quality Metric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90380"/>
            <a:ext cx="9951958" cy="4593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9387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01459"/>
            <a:ext cx="40339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computational steps are: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95951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an initial guess of the image.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Point Iteration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linearize the nonlinear model.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FGMRES algorithm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solve the linear system.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preconditioners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P1 and P2  to accelerate convergence.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iterations until error tolerance is satisfied.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4884" y="873919"/>
            <a:ext cx="12680513" cy="1148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most important advantage of using fractional differential equations in their nonlocal property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884" y="2413040"/>
            <a:ext cx="8993505" cy="4341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41994" y="2379583"/>
            <a:ext cx="152090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74884" y="7089458"/>
            <a:ext cx="12680513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759368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Difference between noise and blur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530906"/>
            <a:ext cx="13042821" cy="5368766"/>
          </a:xfrm>
          <a:prstGeom prst="roundRect">
            <a:avLst>
              <a:gd name="adj" fmla="val 177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538526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168223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168223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168223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188845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233255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2332553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Blur is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of sharpness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an image.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2332553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 is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unwanted variations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pixel values.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202067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334577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Appearance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3345775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looks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and unclear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334577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looks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grainy or speckled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3852386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399609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 on Image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3996095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Edges and details become soft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smeared.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3996095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dots or color spots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appear in the image.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865608"/>
            <a:ext cx="1302627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5009317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Causes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5009317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Out-of-focus lens, camera shake, motion of objects.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5009317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light, high ISO, sensor errors, electronic interference.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878830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9653" y="602253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375077" y="6022538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photo taken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proper focus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716691" y="6022538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photo taken in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light with high ISO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521" y="665202"/>
            <a:ext cx="6827044" cy="5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Results(goldenhouse-alpha=0.9)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796" y="1520904"/>
            <a:ext cx="2894171" cy="214229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218" y="1520904"/>
            <a:ext cx="4392930" cy="2295287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521" y="4239101"/>
            <a:ext cx="5370076" cy="2808327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490" y="4239101"/>
            <a:ext cx="4589621" cy="239887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287458" y="6778943"/>
            <a:ext cx="5851803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8" name="Text 2"/>
          <p:cNvSpPr/>
          <p:nvPr/>
        </p:nvSpPr>
        <p:spPr>
          <a:xfrm>
            <a:off x="1498521" y="7329368"/>
            <a:ext cx="11633240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6999" y="453866"/>
            <a:ext cx="5758696" cy="50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Results(eyeretina-alpha=1.3)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999" y="1267420"/>
            <a:ext cx="5409962" cy="279618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059" y="1267420"/>
            <a:ext cx="5409962" cy="28683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21059" y="4266724"/>
            <a:ext cx="5409962" cy="223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99" y="4856559"/>
            <a:ext cx="4280654" cy="2234922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408" y="4881920"/>
            <a:ext cx="3745111" cy="195060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637145" y="7093625"/>
            <a:ext cx="5293757" cy="223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250" dirty="0"/>
          </a:p>
        </p:txBody>
      </p:sp>
      <p:sp>
        <p:nvSpPr>
          <p:cNvPr id="9" name="Text 3"/>
          <p:cNvSpPr/>
          <p:nvPr/>
        </p:nvSpPr>
        <p:spPr>
          <a:xfrm>
            <a:off x="1706999" y="7552492"/>
            <a:ext cx="11216402" cy="223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0230" y="436721"/>
            <a:ext cx="6070759" cy="495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Results(cameraman-alpha=2.1)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0230" y="1223963"/>
            <a:ext cx="5167908" cy="267342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949" y="1223963"/>
            <a:ext cx="4214098" cy="22087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02949" y="3557587"/>
            <a:ext cx="5394603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230" y="4272082"/>
            <a:ext cx="5281255" cy="2750582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297" y="4272082"/>
            <a:ext cx="5281255" cy="273962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516297" y="7136606"/>
            <a:ext cx="5281255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1840230" y="7577138"/>
            <a:ext cx="10949821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7404" y="442555"/>
            <a:ext cx="5257443" cy="47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Results(peppers-alpha=2.9)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7404" y="1181695"/>
            <a:ext cx="4934664" cy="255091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258" y="1181695"/>
            <a:ext cx="5151239" cy="26086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99258" y="3904178"/>
            <a:ext cx="5151239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404" y="4425077"/>
            <a:ext cx="4934664" cy="2546033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258" y="4425077"/>
            <a:ext cx="5151239" cy="263878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399258" y="7177683"/>
            <a:ext cx="5151239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</p:txBody>
      </p:sp>
      <p:sp>
        <p:nvSpPr>
          <p:cNvPr id="9" name="Text 3"/>
          <p:cNvSpPr/>
          <p:nvPr/>
        </p:nvSpPr>
        <p:spPr>
          <a:xfrm>
            <a:off x="2087404" y="7584757"/>
            <a:ext cx="10455593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2026-03-13T16:06:19Z</dcterms:created>
  <dcterms:modified xsi:type="dcterms:W3CDTF">2026-03-13T16:06:19Z</dcterms:modified>
</cp:coreProperties>
</file>